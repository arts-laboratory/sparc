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2" r:id="rId4"/>
    <p:sldId id="263" r:id="rId5"/>
    <p:sldId id="265" r:id="rId6"/>
    <p:sldId id="264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94"/>
  </p:normalViewPr>
  <p:slideViewPr>
    <p:cSldViewPr snapToGrid="0" snapToObjects="1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bastione Bailey" userId="34105aa9bb97034c" providerId="LiveId" clId="{BE9028CD-E18D-49CA-8390-4E45E622F8AA}"/>
    <pc:docChg chg="undo custSel modSld">
      <pc:chgData name="Cebastione Bailey" userId="34105aa9bb97034c" providerId="LiveId" clId="{BE9028CD-E18D-49CA-8390-4E45E622F8AA}" dt="2026-10-02T16:02:55.933" v="3" actId="1076"/>
      <pc:docMkLst>
        <pc:docMk/>
      </pc:docMkLst>
      <pc:sldChg chg="modSp mod">
        <pc:chgData name="Cebastione Bailey" userId="34105aa9bb97034c" providerId="LiveId" clId="{BE9028CD-E18D-49CA-8390-4E45E622F8AA}" dt="2026-10-02T16:02:55.933" v="3" actId="1076"/>
        <pc:sldMkLst>
          <pc:docMk/>
          <pc:sldMk cId="1833896177" sldId="263"/>
        </pc:sldMkLst>
        <pc:spChg chg="mod">
          <ac:chgData name="Cebastione Bailey" userId="34105aa9bb97034c" providerId="LiveId" clId="{BE9028CD-E18D-49CA-8390-4E45E622F8AA}" dt="2026-10-02T16:02:55.933" v="3" actId="1076"/>
          <ac:spMkLst>
            <pc:docMk/>
            <pc:sldMk cId="1833896177" sldId="263"/>
            <ac:spMk id="2" creationId="{69A2DBD1-2600-A0FB-CBCB-24EA083BF47F}"/>
          </ac:spMkLst>
        </pc:spChg>
        <pc:spChg chg="mod">
          <ac:chgData name="Cebastione Bailey" userId="34105aa9bb97034c" providerId="LiveId" clId="{BE9028CD-E18D-49CA-8390-4E45E622F8AA}" dt="2026-10-02T16:02:46.842" v="1" actId="1076"/>
          <ac:spMkLst>
            <pc:docMk/>
            <pc:sldMk cId="1833896177" sldId="263"/>
            <ac:spMk id="4" creationId="{84241C1F-C118-A756-7BF2-ADD93416DBB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3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D658-C8DE-3B71-73BC-D34C9869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E5CCF-4EF8-2D45-0A95-9B97CA450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EB578-0926-8130-1F24-667417AC7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B1BA0-324D-0E09-FFF5-972BC0A2A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8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94DD-97B2-9302-8706-17BF1B5F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55668-D29A-B95A-536E-AE92DE155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2D508-6F66-9A2F-2D5A-0205B3756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DFDF4-4789-8CBE-D167-2E58C92C5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21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C6D3-6A11-2E5C-CAD9-396132DC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81486-8906-DEFE-FED3-CF0F3CE36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A9DE2-6D53-2826-F406-ADC76F8C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0C5A3-1919-AE4E-B672-518943B34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79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5D7B-B7C7-EEE5-81C3-0858989F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A537B-9819-3FBA-4233-FE37E34C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4A36A-DA11-F09C-7E57-952106976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48A98-6E47-B411-4B50-F99220E38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E603-0EE4-3042-9661-047EB577E4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5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7CA613-45CE-304E-89CD-A7CD3E387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74805" y="4461832"/>
            <a:ext cx="2842389" cy="18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96917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Name:</a:t>
            </a:r>
          </a:p>
          <a:p>
            <a:pPr lvl="0"/>
            <a:r>
              <a:rPr lang="en-US" dirty="0"/>
              <a:t>Title:</a:t>
            </a:r>
          </a:p>
          <a:p>
            <a:pPr lvl="0"/>
            <a:r>
              <a:rPr lang="en-US" dirty="0"/>
              <a:t>Email: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9AC280-2351-6C45-82F9-60D04CD015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56810" y="5337313"/>
            <a:ext cx="4916491" cy="10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35866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6135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8" r:id="rId5"/>
    <p:sldLayoutId id="2147483659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Smart-Pack-for-Advanced-Research-and-Control (SPARC)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FB2FF-1748-1752-C51A-ED679CC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DB81217-8B12-0755-C0D5-2A338620C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FBAD-F450-1448-A36A-72F6AB77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Develop a Modular, Sensor-Rich Battery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7E89-62C2-B143-BEBA-CA6D34981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32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Supports Next-Generation Energy Storage</a:t>
            </a:r>
          </a:p>
          <a:p>
            <a:pPr lvl="1"/>
            <a:r>
              <a:rPr lang="en-US" dirty="0"/>
              <a:t>Enables research on distributed energy systems and high-performance battery management</a:t>
            </a:r>
          </a:p>
          <a:p>
            <a:pPr lvl="1"/>
            <a:r>
              <a:rPr lang="en-US" dirty="0"/>
              <a:t>Facilitates scalability for a wide range of power applications</a:t>
            </a:r>
          </a:p>
          <a:p>
            <a:r>
              <a:rPr lang="en-US" dirty="0"/>
              <a:t>Enhances Digital Twin Development</a:t>
            </a:r>
          </a:p>
          <a:p>
            <a:pPr lvl="1"/>
            <a:r>
              <a:rPr lang="en-US" dirty="0"/>
              <a:t>Real-time, high-fidelity data streams enable dynamic model validation and predictive analytics</a:t>
            </a:r>
          </a:p>
          <a:p>
            <a:pPr lvl="1"/>
            <a:r>
              <a:rPr lang="en-US" dirty="0"/>
              <a:t>Integrated sensors allow continuous updates to electrochemical, thermal, and mechanical models</a:t>
            </a:r>
          </a:p>
          <a:p>
            <a:r>
              <a:rPr lang="en-US" dirty="0"/>
              <a:t>Enables Flexible and Configurable Testing</a:t>
            </a:r>
          </a:p>
          <a:p>
            <a:pPr lvl="1"/>
            <a:r>
              <a:rPr lang="en-US" dirty="0"/>
              <a:t>Modular 42V (10S1P) design allows for series/parallel stacking to replicate different battery pack architectures</a:t>
            </a:r>
          </a:p>
          <a:p>
            <a:pPr lvl="1"/>
            <a:r>
              <a:rPr lang="en-US" dirty="0"/>
              <a:t>Supports multiple cell sizes and chemistries (e.g., 18650, 21700, NMC, LFP) for diverse application </a:t>
            </a:r>
            <a:r>
              <a:rPr lang="en-US" dirty="0" err="1"/>
              <a:t>studiesImproves</a:t>
            </a:r>
            <a:r>
              <a:rPr lang="en-US" dirty="0"/>
              <a:t> </a:t>
            </a:r>
          </a:p>
          <a:p>
            <a:r>
              <a:rPr lang="en-US" dirty="0"/>
              <a:t>Advanced Battery Control and Monitoring</a:t>
            </a:r>
          </a:p>
          <a:p>
            <a:pPr lvl="1"/>
            <a:r>
              <a:rPr lang="en-US" dirty="0"/>
              <a:t>High-resolution BMS with </a:t>
            </a:r>
            <a:r>
              <a:rPr lang="en-US" dirty="0" err="1"/>
              <a:t>CompactDAQ</a:t>
            </a:r>
            <a:r>
              <a:rPr lang="en-US" dirty="0"/>
              <a:t> integration enables real-time state estimation and anomaly detection</a:t>
            </a:r>
          </a:p>
          <a:p>
            <a:pPr lvl="1"/>
            <a:r>
              <a:rPr lang="en-US" dirty="0"/>
              <a:t>Adaptive energy management through advanced control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9EE7D-7156-7B83-CFBD-0D467EBE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4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B655-319F-5C67-EF6C-0842D0FD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B0AF-960C-CF5E-6A69-76846981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Just Buy a Battery Pack?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2556-CC94-FAF1-C2D6-1DE857D35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327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It’s Not That Simple</a:t>
            </a:r>
          </a:p>
          <a:p>
            <a:pPr lvl="1"/>
            <a:r>
              <a:rPr lang="en-US" dirty="0"/>
              <a:t>Off-the-shelf battery packs are designed for consumer or industrial use, not for research and experimentation</a:t>
            </a:r>
          </a:p>
          <a:p>
            <a:pPr lvl="1"/>
            <a:r>
              <a:rPr lang="en-US" dirty="0"/>
              <a:t>Most commercial packs come with proprietary BMS systems that restrict access to raw data, limiting the ability to monitor and analyze cell-level behavior</a:t>
            </a:r>
          </a:p>
          <a:p>
            <a:r>
              <a:rPr lang="en-US" dirty="0"/>
              <a:t>Limited Experimental Flexibility</a:t>
            </a:r>
          </a:p>
          <a:p>
            <a:pPr lvl="1"/>
            <a:r>
              <a:rPr lang="en-US" dirty="0"/>
              <a:t>Research often requires testing individual cells and full packs under identical conditions, which isn’t possible with third-party pack builders</a:t>
            </a:r>
          </a:p>
          <a:p>
            <a:pPr lvl="1"/>
            <a:r>
              <a:rPr lang="en-US" dirty="0"/>
              <a:t>By sourcing cells from a single batch, researchers can compare degradation, thermal response, and electrochemical performance at both cell and pack levels</a:t>
            </a:r>
          </a:p>
          <a:p>
            <a:pPr lvl="1"/>
            <a:r>
              <a:rPr lang="en-US" dirty="0"/>
              <a:t>Pack design constraints in commercial solutions prevent studies on alternative cooling strategies, advanced sensing, and new control architectures</a:t>
            </a:r>
          </a:p>
          <a:p>
            <a:r>
              <a:rPr lang="en-US" dirty="0"/>
              <a:t>Need for Custom Sensing and Instrumentation</a:t>
            </a:r>
          </a:p>
          <a:p>
            <a:pPr lvl="1"/>
            <a:r>
              <a:rPr lang="en-US" dirty="0"/>
              <a:t>Commercial battery packs do not support high-resolution instrumentation, such as differential voltage sensing, strain monitoring, and acoustic emissions</a:t>
            </a:r>
          </a:p>
          <a:p>
            <a:pPr lvl="1"/>
            <a:r>
              <a:rPr lang="en-US" dirty="0"/>
              <a:t>In research, advanced sensing capabilities are critical for developing and validating digital twins, studying failure mechanisms, and improving predictive modeling</a:t>
            </a:r>
          </a:p>
          <a:p>
            <a:pPr lvl="1"/>
            <a:r>
              <a:rPr lang="en-US" dirty="0"/>
              <a:t>Custom-built packs allow for direct integration with external control and data acquisition systems, ensuring researchers have full control over charging, discharging, and monitoring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9DCE-D675-CFE8-8784-D0DFF99D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3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4AA7-A4A0-8195-1866-6CB8C659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mputer generated diagram of a machine&#10;&#10;AI-generated content may be incorrect.">
            <a:extLst>
              <a:ext uri="{FF2B5EF4-FFF2-40B4-BE49-F238E27FC236}">
                <a16:creationId xmlns:a16="http://schemas.microsoft.com/office/drawing/2014/main" id="{A8973D58-BDC2-B624-0860-8EC3EBBDA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96" y="1166419"/>
            <a:ext cx="9500364" cy="51921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A2DBD1-2600-A0FB-CBCB-24EA083BF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517"/>
            <a:ext cx="10515600" cy="1325563"/>
          </a:xfrm>
        </p:spPr>
        <p:txBody>
          <a:bodyPr/>
          <a:lstStyle/>
          <a:p>
            <a:r>
              <a:rPr lang="en-US" dirty="0"/>
              <a:t>What Will the Battery Module look like?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41C1F-C118-A756-7BF2-ADD93416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383" y="6119651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8B08D-DA39-3206-B1AF-DF7ED52C0195}"/>
              </a:ext>
            </a:extLst>
          </p:cNvPr>
          <p:cNvSpPr txBox="1"/>
          <p:nvPr/>
        </p:nvSpPr>
        <p:spPr>
          <a:xfrm>
            <a:off x="8279378" y="2367498"/>
            <a:ext cx="17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Cold plate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C6EF1-9017-88AC-180C-D916F1CDC987}"/>
              </a:ext>
            </a:extLst>
          </p:cNvPr>
          <p:cNvSpPr txBox="1"/>
          <p:nvPr/>
        </p:nvSpPr>
        <p:spPr>
          <a:xfrm>
            <a:off x="2155866" y="4880651"/>
            <a:ext cx="17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233B1-6840-C8C0-1DC7-22B583AEBAFA}"/>
              </a:ext>
            </a:extLst>
          </p:cNvPr>
          <p:cNvSpPr txBox="1"/>
          <p:nvPr/>
        </p:nvSpPr>
        <p:spPr>
          <a:xfrm>
            <a:off x="7335175" y="5749981"/>
            <a:ext cx="17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holder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18772-0A9B-B82E-9A0D-57175047213F}"/>
              </a:ext>
            </a:extLst>
          </p:cNvPr>
          <p:cNvSpPr txBox="1"/>
          <p:nvPr/>
        </p:nvSpPr>
        <p:spPr>
          <a:xfrm>
            <a:off x="2868698" y="2445028"/>
            <a:ext cx="17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Thermal pad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BA8C82-9278-55A3-9C23-A6CFEA344FEC}"/>
              </a:ext>
            </a:extLst>
          </p:cNvPr>
          <p:cNvCxnSpPr>
            <a:cxnSpLocks/>
          </p:cNvCxnSpPr>
          <p:nvPr/>
        </p:nvCxnSpPr>
        <p:spPr>
          <a:xfrm>
            <a:off x="4336854" y="2657695"/>
            <a:ext cx="978096" cy="3014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E85669-45AA-DB88-330D-440216ECFFE5}"/>
              </a:ext>
            </a:extLst>
          </p:cNvPr>
          <p:cNvCxnSpPr>
            <a:cxnSpLocks/>
          </p:cNvCxnSpPr>
          <p:nvPr/>
        </p:nvCxnSpPr>
        <p:spPr>
          <a:xfrm flipV="1">
            <a:off x="3473532" y="3938032"/>
            <a:ext cx="946068" cy="3248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AA3313-DCB5-35E4-B059-C3A6F53350B7}"/>
              </a:ext>
            </a:extLst>
          </p:cNvPr>
          <p:cNvCxnSpPr>
            <a:cxnSpLocks/>
          </p:cNvCxnSpPr>
          <p:nvPr/>
        </p:nvCxnSpPr>
        <p:spPr>
          <a:xfrm flipV="1">
            <a:off x="3314700" y="4927068"/>
            <a:ext cx="737688" cy="1382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A893A2-211F-8FCC-74B0-B7A6A56579F6}"/>
              </a:ext>
            </a:extLst>
          </p:cNvPr>
          <p:cNvCxnSpPr>
            <a:cxnSpLocks/>
          </p:cNvCxnSpPr>
          <p:nvPr/>
        </p:nvCxnSpPr>
        <p:spPr>
          <a:xfrm flipH="1" flipV="1">
            <a:off x="6509526" y="2534229"/>
            <a:ext cx="1720850" cy="229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BC5CD00-425E-0DAA-4B22-E591B947DF4C}"/>
              </a:ext>
            </a:extLst>
          </p:cNvPr>
          <p:cNvCxnSpPr>
            <a:cxnSpLocks/>
          </p:cNvCxnSpPr>
          <p:nvPr/>
        </p:nvCxnSpPr>
        <p:spPr>
          <a:xfrm flipH="1" flipV="1">
            <a:off x="6369003" y="5248847"/>
            <a:ext cx="920797" cy="6111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F234484-F355-9F86-27B0-3DA0F1C1F199}"/>
              </a:ext>
            </a:extLst>
          </p:cNvPr>
          <p:cNvSpPr txBox="1"/>
          <p:nvPr/>
        </p:nvSpPr>
        <p:spPr>
          <a:xfrm>
            <a:off x="7128807" y="4078221"/>
            <a:ext cx="17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29DC46-9716-BD30-8CBF-066E0345C444}"/>
              </a:ext>
            </a:extLst>
          </p:cNvPr>
          <p:cNvCxnSpPr>
            <a:cxnSpLocks/>
          </p:cNvCxnSpPr>
          <p:nvPr/>
        </p:nvCxnSpPr>
        <p:spPr>
          <a:xfrm flipH="1">
            <a:off x="6231499" y="4262887"/>
            <a:ext cx="8973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896F676-6698-92F1-506C-CA51A3B1C05F}"/>
              </a:ext>
            </a:extLst>
          </p:cNvPr>
          <p:cNvSpPr txBox="1"/>
          <p:nvPr/>
        </p:nvSpPr>
        <p:spPr>
          <a:xfrm>
            <a:off x="1442054" y="4052370"/>
            <a:ext cx="216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Assembly springs</a:t>
            </a:r>
          </a:p>
        </p:txBody>
      </p:sp>
    </p:spTree>
    <p:extLst>
      <p:ext uri="{BB962C8B-B14F-4D97-AF65-F5344CB8AC3E}">
        <p14:creationId xmlns:p14="http://schemas.microsoft.com/office/powerpoint/2010/main" val="183389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EA19-4011-0F41-05FC-276A26FA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80A2-74C8-77BB-6121-72247506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the BMS Look Like?</a:t>
            </a:r>
          </a:p>
        </p:txBody>
      </p:sp>
      <p:pic>
        <p:nvPicPr>
          <p:cNvPr id="2052" name="Picture 4" descr="CompactDAQ - Wikipedia">
            <a:extLst>
              <a:ext uri="{FF2B5EF4-FFF2-40B4-BE49-F238E27FC236}">
                <a16:creationId xmlns:a16="http://schemas.microsoft.com/office/drawing/2014/main" id="{FC0DBF07-80DD-F54C-55B3-90546132B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668" y="4584539"/>
            <a:ext cx="288607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4BB35D-5D91-F65C-D745-83C52E03B515}"/>
              </a:ext>
            </a:extLst>
          </p:cNvPr>
          <p:cNvSpPr txBox="1"/>
          <p:nvPr/>
        </p:nvSpPr>
        <p:spPr>
          <a:xfrm>
            <a:off x="5680653" y="6118097"/>
            <a:ext cx="237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cDAQ</a:t>
            </a:r>
            <a:r>
              <a:rPr lang="en-US" dirty="0"/>
              <a:t> based DAQ</a:t>
            </a:r>
          </a:p>
        </p:txBody>
      </p:sp>
      <p:pic>
        <p:nvPicPr>
          <p:cNvPr id="2054" name="Picture 6" descr="Custom PCB-The Ultimate Guide-ucreatepcb.com">
            <a:extLst>
              <a:ext uri="{FF2B5EF4-FFF2-40B4-BE49-F238E27FC236}">
                <a16:creationId xmlns:a16="http://schemas.microsoft.com/office/drawing/2014/main" id="{8C8FB551-3FC7-79F0-2E5F-3D4F04DD2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872" y="1737575"/>
            <a:ext cx="2765790" cy="193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11066C-5643-2B2D-4AE7-3866EEBEA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35" y="2806587"/>
            <a:ext cx="1095383" cy="847731"/>
          </a:xfrm>
          <a:prstGeom prst="rect">
            <a:avLst/>
          </a:prstGeom>
        </p:spPr>
      </p:pic>
      <p:pic>
        <p:nvPicPr>
          <p:cNvPr id="2058" name="Picture 10" descr="Zustandsüberwachung für die industrielle Fertigung - NI">
            <a:extLst>
              <a:ext uri="{FF2B5EF4-FFF2-40B4-BE49-F238E27FC236}">
                <a16:creationId xmlns:a16="http://schemas.microsoft.com/office/drawing/2014/main" id="{56C6B7B7-9C58-CC0F-5FB4-CB705C73B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827"/>
          <a:stretch/>
        </p:blipFill>
        <p:spPr bwMode="auto">
          <a:xfrm>
            <a:off x="8000743" y="2601599"/>
            <a:ext cx="4054959" cy="227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4,12 J Box Hinged - 14x8x6 - Steel/Gray">
            <a:extLst>
              <a:ext uri="{FF2B5EF4-FFF2-40B4-BE49-F238E27FC236}">
                <a16:creationId xmlns:a16="http://schemas.microsoft.com/office/drawing/2014/main" id="{E6F2166E-F01E-F50C-2451-F608DE6CD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8" t="-1" b="2053"/>
          <a:stretch/>
        </p:blipFill>
        <p:spPr bwMode="auto">
          <a:xfrm rot="5933228">
            <a:off x="1688194" y="2572495"/>
            <a:ext cx="2098237" cy="26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731FF1-1260-FF16-2D8E-C6B58A8D6290}"/>
              </a:ext>
            </a:extLst>
          </p:cNvPr>
          <p:cNvSpPr txBox="1"/>
          <p:nvPr/>
        </p:nvSpPr>
        <p:spPr>
          <a:xfrm>
            <a:off x="1174140" y="4440343"/>
            <a:ext cx="290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Battery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E73A6C-7B3E-C088-F61D-D4DD67D857D3}"/>
              </a:ext>
            </a:extLst>
          </p:cNvPr>
          <p:cNvSpPr txBox="1"/>
          <p:nvPr/>
        </p:nvSpPr>
        <p:spPr>
          <a:xfrm>
            <a:off x="4933682" y="1552909"/>
            <a:ext cx="290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BMS Control Board</a:t>
            </a:r>
          </a:p>
        </p:txBody>
      </p:sp>
      <p:sp>
        <p:nvSpPr>
          <p:cNvPr id="20" name="Arrow: Left-Up 19">
            <a:extLst>
              <a:ext uri="{FF2B5EF4-FFF2-40B4-BE49-F238E27FC236}">
                <a16:creationId xmlns:a16="http://schemas.microsoft.com/office/drawing/2014/main" id="{02A7202E-52D6-5A13-7F21-AF2CD1D0999F}"/>
              </a:ext>
            </a:extLst>
          </p:cNvPr>
          <p:cNvSpPr/>
          <p:nvPr/>
        </p:nvSpPr>
        <p:spPr>
          <a:xfrm>
            <a:off x="8420100" y="4917914"/>
            <a:ext cx="2082800" cy="91440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F17893A6-242D-AD37-8991-1830E9D8E2C9}"/>
              </a:ext>
            </a:extLst>
          </p:cNvPr>
          <p:cNvSpPr/>
          <p:nvPr/>
        </p:nvSpPr>
        <p:spPr>
          <a:xfrm>
            <a:off x="6294701" y="3627886"/>
            <a:ext cx="431798" cy="95665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Up-Down 22">
            <a:extLst>
              <a:ext uri="{FF2B5EF4-FFF2-40B4-BE49-F238E27FC236}">
                <a16:creationId xmlns:a16="http://schemas.microsoft.com/office/drawing/2014/main" id="{2B07F801-92DE-41C9-7E44-5DB88367BDBC}"/>
              </a:ext>
            </a:extLst>
          </p:cNvPr>
          <p:cNvSpPr/>
          <p:nvPr/>
        </p:nvSpPr>
        <p:spPr>
          <a:xfrm rot="15224063">
            <a:off x="4368078" y="3014110"/>
            <a:ext cx="431798" cy="100106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FB4F5BF4-3D40-49EA-FBAE-D655B1DBF65D}"/>
              </a:ext>
            </a:extLst>
          </p:cNvPr>
          <p:cNvSpPr/>
          <p:nvPr/>
        </p:nvSpPr>
        <p:spPr>
          <a:xfrm rot="17869476">
            <a:off x="4347297" y="4346558"/>
            <a:ext cx="431798" cy="124777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62FEF-190E-6F6F-586B-5CA1A5BE2C10}"/>
              </a:ext>
            </a:extLst>
          </p:cNvPr>
          <p:cNvSpPr txBox="1"/>
          <p:nvPr/>
        </p:nvSpPr>
        <p:spPr>
          <a:xfrm>
            <a:off x="252363" y="5330683"/>
            <a:ext cx="3759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$20,000 fully-instrumented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$10,000 typical deployment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$4,000 minimal viable</a:t>
            </a:r>
          </a:p>
        </p:txBody>
      </p:sp>
    </p:spTree>
    <p:extLst>
      <p:ext uri="{BB962C8B-B14F-4D97-AF65-F5344CB8AC3E}">
        <p14:creationId xmlns:p14="http://schemas.microsoft.com/office/powerpoint/2010/main" val="228210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423E8-C818-F86C-46F1-E6DBB671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1783-5EEC-8C02-AD38-21628936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Features will the Pack Have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0F86C-3E21-0E58-7D75-42431539EB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/>
              <a:t>Comprehensive Sensing Capabilities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Voltage Monitoring – Individual cell voltages and differential voltage across each cell for precise state-of-charge (SOC) estimation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Temperature Sensors – Each cell will have dedicated temperature monitoring, ensuring thermal stability and safety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Current Sensors – High-resolution current measurement for charge/discharge tracking and efficiency analysis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Strain Gauges – Integrated strain sensing on cells and pack components to monitor mechanical deformation and aging effects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Acoustic Emission Sensors – Captures high-frequency signals from crack formation, gas evolution, and early failure indicators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F8AEFC-5F53-A1E7-4374-6FA7E17A8E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/>
              <a:t>Advanced Battery Management Features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Cell-Level Monitoring – Every cell is individually monitored for voltage, temperature, and strain, allowing detailed analysis of cell-to-cell variations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Cell Balancing – Passive balancing to start, ensuring even charge distribution and extending pack lifetime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Customizable Data Sampling – Fully open data acquisition interface, allowing researchers to modify sampling rates and data logging parameters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/>
              <a:t>Open-Access and Reconfigurable Design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Fully Open Front Panel – Allows for easy access to all monitoring points, enabling rapid sensor modifications, data acquisition customization, and external integrations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Flexible Control Integration – Can directly support adaptive BMS algorithms and digital twin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B180B-AC53-AE88-AF0D-DA2CDF87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67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Name: Austin Downey</a:t>
            </a:r>
          </a:p>
          <a:p>
            <a:r>
              <a:rPr lang="en-US" dirty="0"/>
              <a:t>Title: Associate Professor</a:t>
            </a:r>
          </a:p>
          <a:p>
            <a:r>
              <a:rPr lang="en-US" dirty="0"/>
              <a:t>Email: austindowney@sc.edu</a:t>
            </a:r>
          </a:p>
          <a:p>
            <a:r>
              <a:rPr lang="en-US" dirty="0"/>
              <a:t>Lab GitHub: github.com/arts-laboratory</a:t>
            </a:r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E35BC0C-4535-7F41-8EDB-CB375E44534D}" vid="{89EE9AB1-1FC3-EE42-B60A-9165AA834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usc_engineering_powerpoint</Template>
  <TotalTime>339</TotalTime>
  <Words>615</Words>
  <Application>Microsoft Office PowerPoint</Application>
  <PresentationFormat>Widescreen</PresentationFormat>
  <Paragraphs>70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UofSC Simple Theme</vt:lpstr>
      <vt:lpstr>Smart-Pack-for-Advanced-Research-and-Control (SPARC)</vt:lpstr>
      <vt:lpstr>Why Develop a Modular, Sensor-Rich Battery System?</vt:lpstr>
      <vt:lpstr>Why Not Just Buy a Battery Pack?</vt:lpstr>
      <vt:lpstr>What Will the Battery Module look like?</vt:lpstr>
      <vt:lpstr>What Will the BMS Look Like?</vt:lpstr>
      <vt:lpstr>What Features will the Pack Have 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Downey</dc:creator>
  <cp:lastModifiedBy>Cebastione Bailey</cp:lastModifiedBy>
  <cp:revision>25</cp:revision>
  <dcterms:created xsi:type="dcterms:W3CDTF">2024-06-17T18:22:44Z</dcterms:created>
  <dcterms:modified xsi:type="dcterms:W3CDTF">2026-10-02T16:03:04Z</dcterms:modified>
</cp:coreProperties>
</file>